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BF2824-7005-42A3-B16B-F62BF1B784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EDD140-D16C-4281-B5CF-D61D42C92D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FAE6EF3-C478-406A-928B-6C9F3D7D14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F8A5B71-914F-4476-875D-59F93579B9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D0B170A-2717-49FE-B16A-5CB7AEC9D9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B8D3544-45E9-40BB-9F22-0D3F72F2DD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DC7A6CB-ADD3-4EEA-9AAD-EBF988111B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487DD57-0858-4293-8973-E6E7FDD42E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ED7DFA3-6B98-4F3E-AA1A-4DEBA46097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92FBED0-B0F7-4CEA-80D5-7A2CB8CDF9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6A6633B-355C-4466-BC02-59BF85A83F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526EB8-740D-45B0-9442-F92D0CC190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7FE980-8990-43F1-993B-21420754F9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949EB3-6268-4DB2-94AE-F5645B3E13C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41740A7-9F3A-4238-9AD3-48BF96556E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B90BE4D-D9E3-4490-BFFD-3466D62A95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FDB3852-BD0F-4C9D-8CE1-6E8B4C76E7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F51FCFB-C966-48F9-A139-1E566FADDF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972D7A8-5ECE-4F52-B9CB-4C66D1458E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0B513FA-5E93-4E00-BCFF-55726D998D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48805F-0763-4D45-B69F-8745856074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B409E4-ECC1-4AB2-B925-4A78464FAA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e1f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Noto Sans CJK SC"/>
              </a:rPr>
              <a:t>Manual Outbound prospecting, I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</a:rPr>
              <a:t>nconsistent Qualification, Slow Follow-up</a:t>
            </a: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0" y="2560320"/>
            <a:ext cx="12191040" cy="7236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731520" y="1371600"/>
            <a:ext cx="1097208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Conversion Engine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731520" y="2011680"/>
            <a:ext cx="1097208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c9d3e6"/>
                </a:solidFill>
                <a:latin typeface="Calibri"/>
              </a:rPr>
              <a:t>Automated lead-generation &amp; conversion pipleline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731520" y="2834640"/>
            <a:ext cx="109720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86a33"/>
                </a:solidFill>
                <a:latin typeface="Calibri"/>
              </a:rPr>
              <a:t>Find the lead. Ground the conversation. Respect the brand. Ship it.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731520" y="6035040"/>
            <a:ext cx="10972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aaac4"/>
                </a:solidFill>
                <a:latin typeface="Calibri"/>
              </a:rPr>
              <a:t>Built from public data only • Kill-switch gated • Trace-grounded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548640" y="228600"/>
            <a:ext cx="10972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e1f3a"/>
                </a:solidFill>
                <a:latin typeface="Calibri"/>
              </a:rPr>
              <a:t>What's Built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ectangle 3"/>
          <p:cNvSpPr/>
          <p:nvPr/>
        </p:nvSpPr>
        <p:spPr>
          <a:xfrm>
            <a:off x="548640" y="502920"/>
            <a:ext cx="1096560" cy="5400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548640" y="640080"/>
            <a:ext cx="1097208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a6a85"/>
                </a:solidFill>
                <a:latin typeface="Calibri"/>
              </a:rPr>
              <a:t>Six pillars, one end-to-end pipeline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ounded Rectangle 5"/>
          <p:cNvSpPr/>
          <p:nvPr/>
        </p:nvSpPr>
        <p:spPr>
          <a:xfrm>
            <a:off x="548640" y="1234440"/>
            <a:ext cx="36111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f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Rectangle 6"/>
          <p:cNvSpPr/>
          <p:nvPr/>
        </p:nvSpPr>
        <p:spPr>
          <a:xfrm>
            <a:off x="548640" y="1234440"/>
            <a:ext cx="72360" cy="246816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7"/>
          <p:cNvSpPr/>
          <p:nvPr/>
        </p:nvSpPr>
        <p:spPr>
          <a:xfrm>
            <a:off x="777240" y="1344240"/>
            <a:ext cx="3291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e1f3a"/>
                </a:solidFill>
                <a:latin typeface="Calibri"/>
              </a:rPr>
              <a:t>Signal Enrichment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8"/>
          <p:cNvSpPr/>
          <p:nvPr/>
        </p:nvSpPr>
        <p:spPr>
          <a:xfrm>
            <a:off x="777240" y="1691640"/>
            <a:ext cx="3291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Firmographics, hiring velocity, layoffs,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leadership, AI-maturity, tech stack,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bench-to-brief match.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ounded Rectangle 9"/>
          <p:cNvSpPr/>
          <p:nvPr/>
        </p:nvSpPr>
        <p:spPr>
          <a:xfrm>
            <a:off x="4297680" y="1234440"/>
            <a:ext cx="36111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f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Rectangle 10"/>
          <p:cNvSpPr/>
          <p:nvPr/>
        </p:nvSpPr>
        <p:spPr>
          <a:xfrm>
            <a:off x="4297680" y="1234440"/>
            <a:ext cx="72360" cy="246816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TextBox 11"/>
          <p:cNvSpPr/>
          <p:nvPr/>
        </p:nvSpPr>
        <p:spPr>
          <a:xfrm>
            <a:off x="4526280" y="1344240"/>
            <a:ext cx="3291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e1f3a"/>
                </a:solidFill>
                <a:latin typeface="Calibri"/>
              </a:rPr>
              <a:t>The Agent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4526280" y="1691640"/>
            <a:ext cx="3291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ICP classifier (rule-based, abstains &lt;0.6),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tone-aware composer (5 markers, 120-word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cap), reply handler, handoff gate.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ounded Rectangle 13"/>
          <p:cNvSpPr/>
          <p:nvPr/>
        </p:nvSpPr>
        <p:spPr>
          <a:xfrm>
            <a:off x="8046720" y="1234440"/>
            <a:ext cx="36111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f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14"/>
          <p:cNvSpPr/>
          <p:nvPr/>
        </p:nvSpPr>
        <p:spPr>
          <a:xfrm>
            <a:off x="8046720" y="1234440"/>
            <a:ext cx="72360" cy="246816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15"/>
          <p:cNvSpPr/>
          <p:nvPr/>
        </p:nvSpPr>
        <p:spPr>
          <a:xfrm>
            <a:off x="8275320" y="1344240"/>
            <a:ext cx="3291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e1f3a"/>
                </a:solidFill>
                <a:latin typeface="Calibri"/>
              </a:rPr>
              <a:t>Kill-Switch Gate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16"/>
          <p:cNvSpPr/>
          <p:nvPr/>
        </p:nvSpPr>
        <p:spPr>
          <a:xfrm>
            <a:off x="8275320" y="1691640"/>
            <a:ext cx="3291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Every outbound action gated by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TENACIOUS_OUTBOUND_ENABLED.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Default routes to staff sinks.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ounded Rectangle 17"/>
          <p:cNvSpPr/>
          <p:nvPr/>
        </p:nvSpPr>
        <p:spPr>
          <a:xfrm>
            <a:off x="548640" y="3931920"/>
            <a:ext cx="36111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f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ectangle 18"/>
          <p:cNvSpPr/>
          <p:nvPr/>
        </p:nvSpPr>
        <p:spPr>
          <a:xfrm>
            <a:off x="548640" y="3931920"/>
            <a:ext cx="72360" cy="246816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19"/>
          <p:cNvSpPr/>
          <p:nvPr/>
        </p:nvSpPr>
        <p:spPr>
          <a:xfrm>
            <a:off x="777240" y="4041720"/>
            <a:ext cx="3291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e1f3a"/>
                </a:solidFill>
                <a:latin typeface="Calibri"/>
              </a:rPr>
              <a:t>Channels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20"/>
          <p:cNvSpPr/>
          <p:nvPr/>
        </p:nvSpPr>
        <p:spPr>
          <a:xfrm>
            <a:off x="777240" y="4389120"/>
            <a:ext cx="32911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Email (Resend), SMS (Africa's Talking),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HubSpot CRM + Cal.com self-hosted docker service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ounded Rectangle 21"/>
          <p:cNvSpPr/>
          <p:nvPr/>
        </p:nvSpPr>
        <p:spPr>
          <a:xfrm>
            <a:off x="4297680" y="3931920"/>
            <a:ext cx="36111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f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22"/>
          <p:cNvSpPr/>
          <p:nvPr/>
        </p:nvSpPr>
        <p:spPr>
          <a:xfrm>
            <a:off x="4297680" y="3931920"/>
            <a:ext cx="72360" cy="246816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23"/>
          <p:cNvSpPr/>
          <p:nvPr/>
        </p:nvSpPr>
        <p:spPr>
          <a:xfrm>
            <a:off x="4526280" y="4041720"/>
            <a:ext cx="3291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e1f3a"/>
                </a:solidFill>
                <a:latin typeface="Calibri"/>
              </a:rPr>
              <a:t>Evaluation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24"/>
          <p:cNvSpPr/>
          <p:nvPr/>
        </p:nvSpPr>
        <p:spPr>
          <a:xfrm>
            <a:off x="4526280" y="4389120"/>
            <a:ext cx="3291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τ²-Bench harness, 34 probes across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12 categories, failure taxonomy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25"/>
          <p:cNvSpPr/>
          <p:nvPr/>
        </p:nvSpPr>
        <p:spPr>
          <a:xfrm>
            <a:off x="8046720" y="3931920"/>
            <a:ext cx="3611160" cy="2468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f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26"/>
          <p:cNvSpPr/>
          <p:nvPr/>
        </p:nvSpPr>
        <p:spPr>
          <a:xfrm>
            <a:off x="8046720" y="3931920"/>
            <a:ext cx="72360" cy="246816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7"/>
          <p:cNvSpPr/>
          <p:nvPr/>
        </p:nvSpPr>
        <p:spPr>
          <a:xfrm>
            <a:off x="8275320" y="4041720"/>
            <a:ext cx="32911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e1f3a"/>
                </a:solidFill>
                <a:latin typeface="Calibri"/>
              </a:rPr>
              <a:t>Observability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28"/>
          <p:cNvSpPr/>
          <p:nvPr/>
        </p:nvSpPr>
        <p:spPr>
          <a:xfrm>
            <a:off x="8275320" y="4389120"/>
            <a:ext cx="329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Langfuse showing traces &amp; cost metrics.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548640" y="228600"/>
            <a:ext cx="10972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e1f3a"/>
                </a:solidFill>
                <a:latin typeface="Calibri"/>
              </a:rPr>
              <a:t>Architecture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548640" y="502920"/>
            <a:ext cx="1096560" cy="5400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548640" y="640080"/>
            <a:ext cx="1097208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a6a85"/>
                </a:solidFill>
                <a:latin typeface="Calibri"/>
              </a:rPr>
              <a:t>Public-data sources → agent → kill-switch → channels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548640" y="1188720"/>
            <a:ext cx="255960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e1f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548640" y="1298520"/>
            <a:ext cx="255960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e1f3a"/>
                </a:solidFill>
                <a:latin typeface="Calibri"/>
              </a:rPr>
              <a:t>Public Data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548640" y="1645920"/>
            <a:ext cx="25596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a44"/>
                </a:solidFill>
                <a:latin typeface="Calibri"/>
              </a:rPr>
              <a:t>Crunchbase ODM (frozen)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a44"/>
                </a:solidFill>
                <a:latin typeface="Calibri"/>
              </a:rPr>
              <a:t>layoffs.fyi · Job posts (≤200/wk)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8"/>
          <p:cNvSpPr/>
          <p:nvPr/>
        </p:nvSpPr>
        <p:spPr>
          <a:xfrm>
            <a:off x="3657600" y="1188720"/>
            <a:ext cx="484560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e1f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3657600" y="1298520"/>
            <a:ext cx="484560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e1f3a"/>
                </a:solidFill>
                <a:latin typeface="Calibri"/>
              </a:rPr>
              <a:t>Signal-Enrichment Pipeline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3657600" y="1645920"/>
            <a:ext cx="48456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a44"/>
                </a:solidFill>
                <a:latin typeface="Calibri"/>
              </a:rPr>
              <a:t>firmographics → hiring → layoffs → leadership → AI-maturity → tech stack → bench match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9052560" y="1188720"/>
            <a:ext cx="255960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e1f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9052560" y="1298520"/>
            <a:ext cx="255960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e1f3a"/>
                </a:solidFill>
                <a:latin typeface="Calibri"/>
              </a:rPr>
              <a:t>Briefs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3"/>
          <p:cNvSpPr/>
          <p:nvPr/>
        </p:nvSpPr>
        <p:spPr>
          <a:xfrm>
            <a:off x="9052560" y="1645920"/>
            <a:ext cx="25596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a44"/>
                </a:solidFill>
                <a:latin typeface="Calibri"/>
              </a:rPr>
              <a:t>hiring_signal_brief.json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a44"/>
                </a:solidFill>
                <a:latin typeface="Calibri"/>
              </a:rPr>
              <a:t>competitor_gap_brief.json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" name="Connector 14"/>
          <p:cNvCxnSpPr/>
          <p:nvPr/>
        </p:nvCxnSpPr>
        <p:spPr>
          <a:xfrm>
            <a:off x="3108960" y="1737360"/>
            <a:ext cx="549360" cy="720"/>
          </a:xfrm>
          <a:prstGeom prst="straightConnector1">
            <a:avLst/>
          </a:prstGeom>
          <a:ln w="19050">
            <a:solidFill>
              <a:srgbClr val="0e1f3a"/>
            </a:solidFill>
            <a:round/>
          </a:ln>
        </p:spPr>
      </p:cxnSp>
      <p:cxnSp>
        <p:nvCxnSpPr>
          <p:cNvPr id="98" name="Connector 15"/>
          <p:cNvCxnSpPr/>
          <p:nvPr/>
        </p:nvCxnSpPr>
        <p:spPr>
          <a:xfrm>
            <a:off x="8503920" y="1737360"/>
            <a:ext cx="549360" cy="720"/>
          </a:xfrm>
          <a:prstGeom prst="straightConnector1">
            <a:avLst/>
          </a:prstGeom>
          <a:ln w="19050">
            <a:solidFill>
              <a:srgbClr val="0e1f3a"/>
            </a:solidFill>
            <a:round/>
          </a:ln>
        </p:spPr>
      </p:cxnSp>
      <p:sp>
        <p:nvSpPr>
          <p:cNvPr id="99" name="Rounded Rectangle 16"/>
          <p:cNvSpPr/>
          <p:nvPr/>
        </p:nvSpPr>
        <p:spPr>
          <a:xfrm>
            <a:off x="3200400" y="2560320"/>
            <a:ext cx="5760000" cy="1279440"/>
          </a:xfrm>
          <a:prstGeom prst="roundRect">
            <a:avLst>
              <a:gd name="adj" fmla="val 16667"/>
            </a:avLst>
          </a:prstGeom>
          <a:solidFill>
            <a:srgbClr val="ffecdd"/>
          </a:solidFill>
          <a:ln w="12700">
            <a:solidFill>
              <a:srgbClr val="0e1f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7"/>
          <p:cNvSpPr/>
          <p:nvPr/>
        </p:nvSpPr>
        <p:spPr>
          <a:xfrm>
            <a:off x="3200400" y="2670120"/>
            <a:ext cx="576000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e1f3a"/>
                </a:solidFill>
                <a:latin typeface="Calibri"/>
              </a:rPr>
              <a:t>The Agent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8"/>
          <p:cNvSpPr/>
          <p:nvPr/>
        </p:nvSpPr>
        <p:spPr>
          <a:xfrm>
            <a:off x="3200400" y="3017520"/>
            <a:ext cx="57600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a44"/>
                </a:solidFill>
                <a:latin typeface="Calibri"/>
              </a:rPr>
              <a:t>ICP classifier · Tone-aware composer · Reply handler · Handoff gate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2" name="Connector 19"/>
          <p:cNvCxnSpPr/>
          <p:nvPr/>
        </p:nvCxnSpPr>
        <p:spPr>
          <a:xfrm>
            <a:off x="6035040" y="2286000"/>
            <a:ext cx="720" cy="275040"/>
          </a:xfrm>
          <a:prstGeom prst="straightConnector1">
            <a:avLst/>
          </a:prstGeom>
          <a:ln w="19050">
            <a:solidFill>
              <a:srgbClr val="0e1f3a"/>
            </a:solidFill>
            <a:round/>
          </a:ln>
        </p:spPr>
      </p:cxnSp>
      <p:sp>
        <p:nvSpPr>
          <p:cNvPr id="103" name="Rounded Rectangle 20"/>
          <p:cNvSpPr/>
          <p:nvPr/>
        </p:nvSpPr>
        <p:spPr>
          <a:xfrm>
            <a:off x="3200400" y="4114800"/>
            <a:ext cx="5760000" cy="822240"/>
          </a:xfrm>
          <a:prstGeom prst="roundRect">
            <a:avLst>
              <a:gd name="adj" fmla="val 16667"/>
            </a:avLst>
          </a:prstGeom>
          <a:solidFill>
            <a:srgbClr val="fde6e6"/>
          </a:solidFill>
          <a:ln w="12700">
            <a:solidFill>
              <a:srgbClr val="0e1f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21"/>
          <p:cNvSpPr/>
          <p:nvPr/>
        </p:nvSpPr>
        <p:spPr>
          <a:xfrm>
            <a:off x="3200400" y="4224600"/>
            <a:ext cx="576000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e1f3a"/>
                </a:solidFill>
                <a:latin typeface="Calibri"/>
              </a:rPr>
              <a:t>Kill-Switch Gate  —  TENACIOUS_OUTBOUND_ENABLED?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22"/>
          <p:cNvSpPr/>
          <p:nvPr/>
        </p:nvSpPr>
        <p:spPr>
          <a:xfrm>
            <a:off x="3200400" y="4572000"/>
            <a:ext cx="576000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a44"/>
                </a:solidFill>
                <a:latin typeface="Calibri"/>
              </a:rPr>
              <a:t>unset → staff sink     |     set → real sender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" name="Connector 23"/>
          <p:cNvCxnSpPr/>
          <p:nvPr/>
        </p:nvCxnSpPr>
        <p:spPr>
          <a:xfrm>
            <a:off x="6035040" y="3840480"/>
            <a:ext cx="720" cy="275040"/>
          </a:xfrm>
          <a:prstGeom prst="straightConnector1">
            <a:avLst/>
          </a:prstGeom>
          <a:ln w="19050">
            <a:solidFill>
              <a:srgbClr val="0e1f3a"/>
            </a:solidFill>
            <a:round/>
          </a:ln>
        </p:spPr>
      </p:cxnSp>
      <p:sp>
        <p:nvSpPr>
          <p:cNvPr id="107" name="Rounded Rectangle 24"/>
          <p:cNvSpPr/>
          <p:nvPr/>
        </p:nvSpPr>
        <p:spPr>
          <a:xfrm>
            <a:off x="548640" y="5212080"/>
            <a:ext cx="356544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e1f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5"/>
          <p:cNvSpPr/>
          <p:nvPr/>
        </p:nvSpPr>
        <p:spPr>
          <a:xfrm>
            <a:off x="548640" y="5321880"/>
            <a:ext cx="356544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e1f3a"/>
                </a:solidFill>
                <a:latin typeface="Calibri"/>
              </a:rPr>
              <a:t>Email (primary)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6"/>
          <p:cNvSpPr/>
          <p:nvPr/>
        </p:nvSpPr>
        <p:spPr>
          <a:xfrm>
            <a:off x="548640" y="5669280"/>
            <a:ext cx="35654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a44"/>
                </a:solidFill>
                <a:latin typeface="Calibri"/>
              </a:rPr>
              <a:t>Resend → HubSpot MCP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27"/>
          <p:cNvSpPr/>
          <p:nvPr/>
        </p:nvSpPr>
        <p:spPr>
          <a:xfrm>
            <a:off x="4297680" y="5212080"/>
            <a:ext cx="3565440" cy="91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e1f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8"/>
          <p:cNvSpPr/>
          <p:nvPr/>
        </p:nvSpPr>
        <p:spPr>
          <a:xfrm>
            <a:off x="4297680" y="5321880"/>
            <a:ext cx="356544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e1f3a"/>
                </a:solidFill>
                <a:latin typeface="Calibri"/>
              </a:rPr>
              <a:t>SMS (scheduling)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29"/>
          <p:cNvSpPr/>
          <p:nvPr/>
        </p:nvSpPr>
        <p:spPr>
          <a:xfrm>
            <a:off x="4297680" y="5669280"/>
            <a:ext cx="356544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1f2a44"/>
                </a:solidFill>
                <a:latin typeface="Calibri"/>
              </a:rPr>
              <a:t>Africa's Talking → Cal.com (self-host)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3" name="Connector 33"/>
          <p:cNvCxnSpPr/>
          <p:nvPr/>
        </p:nvCxnSpPr>
        <p:spPr>
          <a:xfrm>
            <a:off x="2286000" y="4937760"/>
            <a:ext cx="720" cy="275040"/>
          </a:xfrm>
          <a:prstGeom prst="straightConnector1">
            <a:avLst/>
          </a:prstGeom>
          <a:ln w="19050">
            <a:solidFill>
              <a:srgbClr val="0e1f3a"/>
            </a:solidFill>
            <a:round/>
          </a:ln>
        </p:spPr>
      </p:cxnSp>
      <p:cxnSp>
        <p:nvCxnSpPr>
          <p:cNvPr id="114" name="Connector 34"/>
          <p:cNvCxnSpPr/>
          <p:nvPr/>
        </p:nvCxnSpPr>
        <p:spPr>
          <a:xfrm>
            <a:off x="6035040" y="4937760"/>
            <a:ext cx="720" cy="275040"/>
          </a:xfrm>
          <a:prstGeom prst="straightConnector1">
            <a:avLst/>
          </a:prstGeom>
          <a:ln w="19050">
            <a:solidFill>
              <a:srgbClr val="0e1f3a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5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48640" y="228600"/>
            <a:ext cx="10972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e1f3a"/>
                </a:solidFill>
                <a:latin typeface="Calibri"/>
              </a:rPr>
              <a:t>Operating the System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3"/>
          <p:cNvSpPr/>
          <p:nvPr/>
        </p:nvSpPr>
        <p:spPr>
          <a:xfrm>
            <a:off x="548640" y="502920"/>
            <a:ext cx="1096560" cy="5400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548640" y="640080"/>
            <a:ext cx="1097208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a6a85"/>
                </a:solidFill>
                <a:latin typeface="Calibri"/>
              </a:rPr>
              <a:t>Day-to-day commands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5"/>
          <p:cNvSpPr/>
          <p:nvPr/>
        </p:nvSpPr>
        <p:spPr>
          <a:xfrm>
            <a:off x="548640" y="1280160"/>
            <a:ext cx="5348520" cy="2376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f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Rectangle 6"/>
          <p:cNvSpPr/>
          <p:nvPr/>
        </p:nvSpPr>
        <p:spPr>
          <a:xfrm>
            <a:off x="548640" y="1280160"/>
            <a:ext cx="72360" cy="237672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777240" y="1389960"/>
            <a:ext cx="5028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e1f3a"/>
                </a:solidFill>
                <a:latin typeface="Calibri"/>
              </a:rPr>
              <a:t>Enrichment &amp; outbound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777240" y="1737360"/>
            <a:ext cx="5028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make enrich DOMAIN=&lt;domain&gt;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make compose-and-send DOMAIN=&lt;domain&gt;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9"/>
          <p:cNvSpPr/>
          <p:nvPr/>
        </p:nvSpPr>
        <p:spPr>
          <a:xfrm>
            <a:off x="6355080" y="1280160"/>
            <a:ext cx="5348520" cy="2376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f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Rectangle 10"/>
          <p:cNvSpPr/>
          <p:nvPr/>
        </p:nvSpPr>
        <p:spPr>
          <a:xfrm>
            <a:off x="6355080" y="1280160"/>
            <a:ext cx="72360" cy="237672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6583680" y="1389960"/>
            <a:ext cx="5028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e1f3a"/>
                </a:solidFill>
                <a:latin typeface="Calibri"/>
              </a:rPr>
              <a:t>τ²-Bench evaluation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6583680" y="1737360"/>
            <a:ext cx="5028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make tau2-baseline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TAU2_SEALED_ACCESS=1 EVAL_TIER_ENABLED=1 \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make tau2-eval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13"/>
          <p:cNvSpPr/>
          <p:nvPr/>
        </p:nvSpPr>
        <p:spPr>
          <a:xfrm>
            <a:off x="548640" y="3931920"/>
            <a:ext cx="5348520" cy="2376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9dfe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Rectangle 14"/>
          <p:cNvSpPr/>
          <p:nvPr/>
        </p:nvSpPr>
        <p:spPr>
          <a:xfrm>
            <a:off x="548640" y="3931920"/>
            <a:ext cx="72360" cy="237672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777240" y="4041720"/>
            <a:ext cx="502848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e1f3a"/>
                </a:solidFill>
                <a:latin typeface="Calibri"/>
              </a:rPr>
              <a:t>Probes &amp; memo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777240" y="4389120"/>
            <a:ext cx="50284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make probes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make probes P=P-0001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a44"/>
                </a:solidFill>
                <a:latin typeface="Calibri"/>
              </a:rPr>
              <a:t>make memo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e1f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731520" y="548640"/>
            <a:ext cx="10972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Non-Negotiables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3"/>
          <p:cNvSpPr/>
          <p:nvPr/>
        </p:nvSpPr>
        <p:spPr>
          <a:xfrm>
            <a:off x="731520" y="1143000"/>
            <a:ext cx="1096560" cy="54000"/>
          </a:xfrm>
          <a:prstGeom prst="rect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Oval 4"/>
          <p:cNvSpPr/>
          <p:nvPr/>
        </p:nvSpPr>
        <p:spPr>
          <a:xfrm>
            <a:off x="822960" y="1664280"/>
            <a:ext cx="163800" cy="163800"/>
          </a:xfrm>
          <a:prstGeom prst="ellipse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1188720" y="1554480"/>
            <a:ext cx="10514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Kill switch defaults unset.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Oval 6"/>
          <p:cNvSpPr/>
          <p:nvPr/>
        </p:nvSpPr>
        <p:spPr>
          <a:xfrm>
            <a:off x="822960" y="2304360"/>
            <a:ext cx="163800" cy="163800"/>
          </a:xfrm>
          <a:prstGeom prst="ellipse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1188720" y="2194560"/>
            <a:ext cx="10514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No real customer contact during the challenge week.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Oval 8"/>
          <p:cNvSpPr/>
          <p:nvPr/>
        </p:nvSpPr>
        <p:spPr>
          <a:xfrm>
            <a:off x="822960" y="2944440"/>
            <a:ext cx="163800" cy="163800"/>
          </a:xfrm>
          <a:prstGeom prst="ellipse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9"/>
          <p:cNvSpPr/>
          <p:nvPr/>
        </p:nvSpPr>
        <p:spPr>
          <a:xfrm>
            <a:off x="1188720" y="2834640"/>
            <a:ext cx="10514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Every outbound carries X-Tenacious-Status: draft.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Oval 10"/>
          <p:cNvSpPr/>
          <p:nvPr/>
        </p:nvSpPr>
        <p:spPr>
          <a:xfrm>
            <a:off x="822960" y="3584520"/>
            <a:ext cx="163800" cy="163800"/>
          </a:xfrm>
          <a:prstGeom prst="ellipse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11"/>
          <p:cNvSpPr/>
          <p:nvPr/>
        </p:nvSpPr>
        <p:spPr>
          <a:xfrm>
            <a:off x="1188720" y="3474720"/>
            <a:ext cx="10514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No hard-coded secrets — everything via .env or config.yaml.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Oval 12"/>
          <p:cNvSpPr/>
          <p:nvPr/>
        </p:nvSpPr>
        <p:spPr>
          <a:xfrm>
            <a:off x="822960" y="4224600"/>
            <a:ext cx="163800" cy="163800"/>
          </a:xfrm>
          <a:prstGeom prst="ellipse">
            <a:avLst/>
          </a:prstGeom>
          <a:solidFill>
            <a:srgbClr val="e86a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13"/>
          <p:cNvSpPr/>
          <p:nvPr/>
        </p:nvSpPr>
        <p:spPr>
          <a:xfrm>
            <a:off x="1188720" y="4114800"/>
            <a:ext cx="10514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No fabricated Tenacious numbers — every claim resolves to a trace, seed row, or public source.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4"/>
          <p:cNvSpPr/>
          <p:nvPr/>
        </p:nvSpPr>
        <p:spPr>
          <a:xfrm>
            <a:off x="731520" y="5943600"/>
            <a:ext cx="10972080" cy="2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86a33"/>
                </a:solidFill>
                <a:latin typeface="Calibri"/>
              </a:rPr>
              <a:t>Specs · Plans · RUNBOOK.md  —  ship it.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2026-04-25T22:59:44Z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